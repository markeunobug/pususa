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63238"/>
                </a:solidFill>
                <a:latin typeface="Microsoft YaHei"/>
              </a:defRPr>
            </a:pPr>
            <a:r>
              <a:t>Zynq 数字中频处理总体流程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085"/>
                </a:solidFill>
                <a:latin typeface="Microsoft YaHei"/>
              </a:defRPr>
            </a:pPr>
            <a:r>
              <a:t>从固定中频到频谱点的主处理链路。</a:t>
            </a:r>
          </a:p>
        </p:txBody>
      </p:sp>
      <p:pic>
        <p:nvPicPr>
          <p:cNvPr id="4" name="Picture 3" descr="fig_231_1_overal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33" y="932688"/>
            <a:ext cx="9580828" cy="5230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3679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5606E"/>
                </a:solidFill>
                <a:latin typeface="Microsoft YaHei"/>
              </a:defRPr>
            </a:pPr>
            <a:r>
              <a:t>图 2.3.1-1 Zynq 数字中频处理总体流程。40 MHz 中频经 ADC 数字化后，由 DMA 搬运到 PS 侧缓存，随后完成 DDC、RBW 滤波、功率估计和幅度校正，并通过串口协议输出频谱点。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63238"/>
                </a:solidFill>
                <a:latin typeface="Microsoft YaHei"/>
              </a:defRPr>
            </a:pPr>
            <a:r>
              <a:t>Zynq 内部软件与数据流架构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085"/>
                </a:solidFill>
                <a:latin typeface="Microsoft YaHei"/>
              </a:defRPr>
            </a:pPr>
            <a:r>
              <a:t>突出 sweep_engine、signal_processing、dma_capture 和 device_protocol 的协同关系。</a:t>
            </a:r>
          </a:p>
        </p:txBody>
      </p:sp>
      <p:pic>
        <p:nvPicPr>
          <p:cNvPr id="4" name="Picture 3" descr="fig_231_2_software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33" y="932688"/>
            <a:ext cx="9580828" cy="5230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3679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5606E"/>
                </a:solidFill>
                <a:latin typeface="Microsoft YaHei"/>
              </a:defRPr>
            </a:pPr>
            <a:r>
              <a:t>图 2.3.1-2 Zynq 内部软件与数据流架构。扫频状态机作为调度核心，协调本振控制、DMA 采集、信号处理和协议输出，使每个频点的采样、测量、发送过程解耦。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63238"/>
                </a:solidFill>
                <a:latin typeface="Microsoft YaHei"/>
              </a:defRPr>
            </a:pPr>
            <a:r>
              <a:t>逐点扫频状态机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085"/>
                </a:solidFill>
                <a:latin typeface="Microsoft YaHei"/>
              </a:defRPr>
            </a:pPr>
            <a:r>
              <a:t>说明本系统采用频谱仪式逐点扫频，而不是一次 FFT 上传。</a:t>
            </a:r>
          </a:p>
        </p:txBody>
      </p:sp>
      <p:pic>
        <p:nvPicPr>
          <p:cNvPr id="4" name="Picture 3" descr="fig_231_3_sweep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33" y="932688"/>
            <a:ext cx="9580828" cy="5230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3679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5606E"/>
                </a:solidFill>
                <a:latin typeface="Microsoft YaHei"/>
              </a:defRPr>
            </a:pPr>
            <a:r>
              <a:t>图 2.3.1-3 逐点扫频状态机。每个频点依次完成 LO1 设置、锁定等待、DMA 采样、样本累积、功率测量、频谱点发送和下一频点切换。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63238"/>
                </a:solidFill>
                <a:latin typeface="Microsoft YaHei"/>
              </a:defRPr>
            </a:pPr>
            <a:r>
              <a:t>多档 RBW 滤波处理链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085"/>
                </a:solidFill>
                <a:latin typeface="Microsoft YaHei"/>
              </a:defRPr>
            </a:pPr>
            <a:r>
              <a:t>展示 RBW 档位如何映射为数字滤波和抽取参数。</a:t>
            </a:r>
          </a:p>
        </p:txBody>
      </p:sp>
      <p:pic>
        <p:nvPicPr>
          <p:cNvPr id="4" name="Picture 3" descr="fig_231_4_rbw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33" y="932688"/>
            <a:ext cx="9580828" cy="5230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3679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5606E"/>
                </a:solidFill>
                <a:latin typeface="Microsoft YaHei"/>
              </a:defRPr>
            </a:pPr>
            <a:r>
              <a:t>图 2.3.1-4 多档 RBW 滤波处理链。不同 RBW 档位配置不同 CIC 抽取比、CIC 级数和补偿 FIR 长度，从而在扫速和分辨率之间取得折中。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63238"/>
                </a:solidFill>
                <a:latin typeface="Microsoft YaHei"/>
              </a:defRPr>
            </a:pPr>
            <a:r>
              <a:t>功率计算与幅度校正路径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085"/>
                </a:solidFill>
                <a:latin typeface="Microsoft YaHei"/>
              </a:defRPr>
            </a:pPr>
            <a:r>
              <a:t>把测量数学关系和前端增益/衰减补偿放在同一条链上。</a:t>
            </a:r>
          </a:p>
        </p:txBody>
      </p:sp>
      <p:pic>
        <p:nvPicPr>
          <p:cNvPr id="4" name="Picture 3" descr="fig_231_5_power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33" y="932688"/>
            <a:ext cx="9580828" cy="5230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3679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5606E"/>
                </a:solidFill>
                <a:latin typeface="Microsoft YaHei"/>
              </a:defRPr>
            </a:pPr>
            <a:r>
              <a:t>图 2.3.1-5 功率计算与幅度校正路径。RBW 滤波后的 I/Q 数据先通过均方功率估计得到 dBFS，再结合 ADC 满量程参考和射频前端校正换算为输入端 dBm。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63238"/>
                </a:solidFill>
                <a:latin typeface="Microsoft YaHei"/>
              </a:defRPr>
            </a:pPr>
            <a:r>
              <a:t>RBW 档位参数表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56692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085"/>
                </a:solidFill>
                <a:latin typeface="Microsoft YaHei"/>
              </a:defRPr>
            </a:pPr>
            <a:r>
              <a:t>当前固件中各 RBW 档位的关键数字处理参数。</a:t>
            </a:r>
          </a:p>
        </p:txBody>
      </p:sp>
      <p:pic>
        <p:nvPicPr>
          <p:cNvPr id="4" name="Picture 3" descr="table_231_1_rbw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38" y="932688"/>
            <a:ext cx="9956018" cy="5230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36792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55606E"/>
                </a:solidFill>
                <a:latin typeface="Microsoft YaHei"/>
              </a:defRPr>
            </a:pPr>
            <a:r>
              <a:t>表 2.3.1-1 RBW 档位参数。参数来自当前固件 app_config.h，用于配置 CIC 抽取、补偿 FIR 和每个扫频点的有效观测长度。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